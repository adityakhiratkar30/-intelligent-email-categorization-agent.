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Space Mono"/>
      <p:regular r:id="rId20"/>
      <p:bold r:id="rId21"/>
      <p:italic r:id="rId22"/>
      <p:boldItalic r:id="rId23"/>
    </p:embeddedFont>
    <p:embeddedFont>
      <p:font typeface="Plus Jakarta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5C279C-5EC6-4DFF-9B19-3D6B846B057F}">
  <a:tblStyle styleId="{045C279C-5EC6-4DFF-9B19-3D6B846B057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Mono-regular.fntdata"/><Relationship Id="rId22" Type="http://schemas.openxmlformats.org/officeDocument/2006/relationships/font" Target="fonts/SpaceMono-italic.fntdata"/><Relationship Id="rId21" Type="http://schemas.openxmlformats.org/officeDocument/2006/relationships/font" Target="fonts/SpaceMono-bold.fntdata"/><Relationship Id="rId24" Type="http://schemas.openxmlformats.org/officeDocument/2006/relationships/font" Target="fonts/PlusJakartaSans-regular.fntdata"/><Relationship Id="rId23" Type="http://schemas.openxmlformats.org/officeDocument/2006/relationships/font" Target="fonts/Space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italic.fntdata"/><Relationship Id="rId25" Type="http://schemas.openxmlformats.org/officeDocument/2006/relationships/font" Target="fonts/PlusJakartaSans-bold.fntdata"/><Relationship Id="rId27" Type="http://schemas.openxmlformats.org/officeDocument/2006/relationships/font" Target="fonts/PlusJakarta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543550"/>
            <a:ext cx="109728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554355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609600"/>
            <a:ext cx="4914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Space Mono"/>
                <a:ea typeface="Space Mono"/>
                <a:cs typeface="Space Mono"/>
                <a:sym typeface="Space Mono"/>
              </a:rPr>
              <a:t>SYMBIOSIS INSTITUTE OF TECHNOLOGY | B.TECH CSE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810500" y="609600"/>
            <a:ext cx="38671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Space Mono"/>
                <a:ea typeface="Space Mono"/>
                <a:cs typeface="Space Mono"/>
                <a:sym typeface="Space Mono"/>
              </a:rPr>
              <a:t>Course: Agentic AI &amp; Automation (0705210501)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2156519"/>
            <a:ext cx="10953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ACADEMIC CAPSTONE PRESENTATION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2508944"/>
            <a:ext cx="9301162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Intelligent Email Categorization Agent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3876675"/>
            <a:ext cx="115014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With LangGraph Memory Checkpointing &amp; Human-In-The-Loop Safety Gating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5819775"/>
            <a:ext cx="35004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STUDENT PRESENTER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09600" y="6029325"/>
            <a:ext cx="35004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Aditya Khiratkar </a:t>
            </a:r>
            <a:r>
              <a:rPr b="0" i="0" lang="en-US" sz="112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(PRN: 24070521071)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963025" y="5838825"/>
            <a:ext cx="2619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ACADEMIC SESSION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963025" y="6048375"/>
            <a:ext cx="2619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Semester V | Batch 2024–28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609600" y="1640085"/>
            <a:ext cx="5334000" cy="4684514"/>
          </a:xfrm>
          <a:prstGeom prst="roundRect">
            <a:avLst>
              <a:gd fmla="val 325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248400" y="1640085"/>
            <a:ext cx="5334000" cy="4684514"/>
          </a:xfrm>
          <a:prstGeom prst="roundRect">
            <a:avLst>
              <a:gd fmla="val 325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923925" y="5610225"/>
            <a:ext cx="4705350" cy="400050"/>
          </a:xfrm>
          <a:prstGeom prst="roundRect">
            <a:avLst>
              <a:gd fmla="val 19047" name="adj"/>
            </a:avLst>
          </a:prstGeom>
          <a:solidFill>
            <a:srgbClr val="FF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562725" y="5610225"/>
            <a:ext cx="4705350" cy="400050"/>
          </a:xfrm>
          <a:prstGeom prst="roundRect">
            <a:avLst>
              <a:gd fmla="val 19047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195441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725" y="195441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207823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6550" y="207823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09600" y="5334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01 / PROBLEM &amp; PROJECT AIM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09600" y="847725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Bridging Autonomous Intelligence and Operational Safety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23925" y="2411610"/>
            <a:ext cx="61757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Problem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23925" y="2764035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Static LLM prompting lacks environment feedback. Fully autonomous agents risk accidental deletions, hallucinated commitments, and unauthorized email dispatch.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076325" y="5724525"/>
            <a:ext cx="55006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Risk: Irreversible real-world side effects.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562725" y="2411610"/>
            <a:ext cx="56292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Aim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562725" y="2764035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 design and evaluate an autonomous email categorization agent using LangChain, LangGraph, and Gmail API, reinforced with strict Human-In-The-Loop safety gating.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715125" y="5724525"/>
            <a:ext cx="5476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7598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Target: Zero unauthorized side-effect tool calls.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609600" y="3152775"/>
            <a:ext cx="2600325" cy="1638300"/>
          </a:xfrm>
          <a:prstGeom prst="roundRect">
            <a:avLst>
              <a:gd fmla="val 697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3400425" y="3152775"/>
            <a:ext cx="2600325" cy="1638300"/>
          </a:xfrm>
          <a:prstGeom prst="roundRect">
            <a:avLst>
              <a:gd fmla="val 697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191250" y="3152775"/>
            <a:ext cx="2600325" cy="1638300"/>
          </a:xfrm>
          <a:prstGeom prst="roundRect">
            <a:avLst>
              <a:gd fmla="val 697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8982075" y="3062287"/>
            <a:ext cx="2600325" cy="1819275"/>
          </a:xfrm>
          <a:prstGeom prst="roundRect">
            <a:avLst>
              <a:gd fmla="val 628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4194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9025" y="341947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9850" y="341947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10675" y="332898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609600" y="5334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02 / SYSTEM OBJECTIVES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09600" y="8477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Four Core Architectural Pillars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38200" y="3686175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Gmail Integration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38200" y="3981450"/>
            <a:ext cx="2238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OAuth 2.0 scoped auth with resilient mock sandbox for offline testing.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3629025" y="3686175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6-Class Triage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3629025" y="3981450"/>
            <a:ext cx="2238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Multi-class email classification with priority urgency scores from 1 to 5.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419850" y="3686175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Agentic Tools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419850" y="3981450"/>
            <a:ext cx="2238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Autonomous reasoning loop navigating threads and synthesizing draft responses.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210675" y="3595687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HITL Safety Gate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9210675" y="3890962"/>
            <a:ext cx="223837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LangGraph state checkpointing mandating human approval before execution.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609600" y="2762250"/>
            <a:ext cx="10972800" cy="1647825"/>
          </a:xfrm>
          <a:prstGeom prst="roundRect">
            <a:avLst>
              <a:gd fmla="val 924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09600" y="4638675"/>
            <a:ext cx="10972800" cy="504825"/>
          </a:xfrm>
          <a:prstGeom prst="roundRect">
            <a:avLst>
              <a:gd fmla="val 2264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1790700" y="3076575"/>
            <a:ext cx="495300" cy="49530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495800" y="3076575"/>
            <a:ext cx="495300" cy="49530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7200900" y="3076575"/>
            <a:ext cx="495300" cy="495300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9906000" y="3076575"/>
            <a:ext cx="495300" cy="495300"/>
          </a:xfrm>
          <a:prstGeom prst="roundRect">
            <a:avLst>
              <a:gd fmla="val 50000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5175" y="349091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0275" y="349091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15375" y="349091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4829175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609600" y="5334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03 / SYSTEM ARCHITECTURE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09600" y="8477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Cyclic Agent Execution Flow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38200" y="4791075"/>
            <a:ext cx="2752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Persistence Engine: InMemorySaver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477250" y="4791075"/>
            <a:ext cx="2971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Middleware: HumanInTheLoopMiddleware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647825" y="3076575"/>
            <a:ext cx="781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575667" y="3686175"/>
            <a:ext cx="292536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Inbox Input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45318" y="3924300"/>
            <a:ext cx="2786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Gmail REST / Sandbox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4352925" y="3076575"/>
            <a:ext cx="781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3280767" y="3686175"/>
            <a:ext cx="292536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LLM Reasoning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3350418" y="3924300"/>
            <a:ext cx="2786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Categorize &amp; Tool Plan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7058025" y="3076575"/>
            <a:ext cx="781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5985867" y="3686175"/>
            <a:ext cx="292536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HITL Gate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055518" y="3924300"/>
            <a:ext cx="2786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LangGraph Intercept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9763125" y="3076575"/>
            <a:ext cx="781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8690967" y="3686175"/>
            <a:ext cx="292536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Execution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8760618" y="3924300"/>
            <a:ext cx="2786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Approved Operation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/>
          <p:nvPr/>
        </p:nvSpPr>
        <p:spPr>
          <a:xfrm>
            <a:off x="609600" y="1581150"/>
            <a:ext cx="5353050" cy="4743450"/>
          </a:xfrm>
          <a:prstGeom prst="roundRect">
            <a:avLst>
              <a:gd fmla="val 3212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6229350" y="1581150"/>
            <a:ext cx="5353050" cy="4743450"/>
          </a:xfrm>
          <a:prstGeom prst="roundRect">
            <a:avLst>
              <a:gd fmla="val 3212" name="adj"/>
            </a:avLst>
          </a:prstGeom>
          <a:solidFill>
            <a:srgbClr val="FFF1F2"/>
          </a:solidFill>
          <a:ln cap="flat" cmpd="sng" w="9525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3" name="Google Shape;1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18621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5575" y="186213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609600" y="5334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04 / SAFETY POLICY MATRIX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09600" y="8477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Tool Security Partitioning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85825" y="2095500"/>
            <a:ext cx="6000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environmental mutation permitted without gating.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505575" y="2095500"/>
            <a:ext cx="5686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Mandates explicit Human Decision (Approve / Edit / Reject).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228725" y="1857375"/>
            <a:ext cx="291286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Autonomous Read Tools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885825" y="2428875"/>
            <a:ext cx="6000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search_gmail_messages: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Query inbox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885825" y="2609850"/>
            <a:ext cx="6000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read_gmail_message: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Fetch message detail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885825" y="2790825"/>
            <a:ext cx="6000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list_gmail_labels: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Retrieve taxonomy tags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819900" y="1857375"/>
            <a:ext cx="26003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Gated Sensitive Tools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505575" y="2428875"/>
            <a:ext cx="5686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send_gmail_message:</a:t>
            </a:r>
            <a:r>
              <a:rPr b="0" i="0" lang="en-US" sz="1125" u="none" cap="none" strike="noStrike">
                <a:solidFill>
                  <a:srgbClr val="88133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Transmit external email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6505575" y="2609850"/>
            <a:ext cx="5686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create_gmail_draft:</a:t>
            </a:r>
            <a:r>
              <a:rPr b="0" i="0" lang="en-US" sz="1125" u="none" cap="none" strike="noStrike">
                <a:solidFill>
                  <a:srgbClr val="88133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Generate draft response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6505575" y="2790825"/>
            <a:ext cx="5686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delete_gmail_message:</a:t>
            </a:r>
            <a:r>
              <a:rPr b="0" i="0" lang="en-US" sz="1125" u="none" cap="none" strike="noStrike">
                <a:solidFill>
                  <a:srgbClr val="88133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Permanent thread removal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/>
          <p:nvPr/>
        </p:nvSpPr>
        <p:spPr>
          <a:xfrm>
            <a:off x="609600" y="2190750"/>
            <a:ext cx="3555950" cy="1104900"/>
          </a:xfrm>
          <a:prstGeom prst="roundRect">
            <a:avLst>
              <a:gd fmla="val 1034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4317950" y="2105025"/>
            <a:ext cx="3555950" cy="1276350"/>
          </a:xfrm>
          <a:prstGeom prst="roundRect">
            <a:avLst>
              <a:gd fmla="val 895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8026300" y="2190750"/>
            <a:ext cx="3556099" cy="1104900"/>
          </a:xfrm>
          <a:prstGeom prst="roundRect">
            <a:avLst>
              <a:gd fmla="val 1034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09600" y="4657725"/>
            <a:ext cx="3555950" cy="1104900"/>
          </a:xfrm>
          <a:prstGeom prst="roundRect">
            <a:avLst>
              <a:gd fmla="val 1034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4317950" y="4657725"/>
            <a:ext cx="3555950" cy="1104900"/>
          </a:xfrm>
          <a:prstGeom prst="roundRect">
            <a:avLst>
              <a:gd fmla="val 1034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8026300" y="4657725"/>
            <a:ext cx="3556099" cy="1104900"/>
          </a:xfrm>
          <a:prstGeom prst="roundRect">
            <a:avLst>
              <a:gd fmla="val 1034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809625" y="2400300"/>
            <a:ext cx="771525" cy="219075"/>
          </a:xfrm>
          <a:prstGeom prst="roundRect">
            <a:avLst>
              <a:gd fmla="val 26086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4517975" y="2314575"/>
            <a:ext cx="781050" cy="219075"/>
          </a:xfrm>
          <a:prstGeom prst="roundRect">
            <a:avLst>
              <a:gd fmla="val 26086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8226325" y="2400300"/>
            <a:ext cx="771525" cy="219075"/>
          </a:xfrm>
          <a:prstGeom prst="roundRect">
            <a:avLst>
              <a:gd fmla="val 26086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809625" y="4867275"/>
            <a:ext cx="771525" cy="219075"/>
          </a:xfrm>
          <a:prstGeom prst="roundRect">
            <a:avLst>
              <a:gd fmla="val 2608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4517975" y="4867275"/>
            <a:ext cx="752475" cy="219075"/>
          </a:xfrm>
          <a:prstGeom prst="roundRect">
            <a:avLst>
              <a:gd fmla="val 2608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8226325" y="4867275"/>
            <a:ext cx="752475" cy="219075"/>
          </a:xfrm>
          <a:prstGeom prst="roundRect">
            <a:avLst>
              <a:gd fmla="val 26086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609600" y="5334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05 / CATEGORIZATION TAXONOMY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609600" y="8477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6-Class Inbox Triage Framework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885825" y="2438400"/>
            <a:ext cx="714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PRIORITY 5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809625" y="2686050"/>
            <a:ext cx="414211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Urgent / Action Required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809625" y="2924175"/>
            <a:ext cx="3944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Time-sensitive submission deadlines and alerts.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4594175" y="2352675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PRIORITY 4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4517975" y="2600325"/>
            <a:ext cx="414211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 / Academic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4517975" y="2838450"/>
            <a:ext cx="3251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Course updates, interview requests, capstone items.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8302525" y="2438400"/>
            <a:ext cx="714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PRIORITY 3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8226325" y="2686050"/>
            <a:ext cx="396567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Personal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8226325" y="2924175"/>
            <a:ext cx="39450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human peer correspondence and invites.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885825" y="4905375"/>
            <a:ext cx="714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PRIORITY 2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809625" y="5153025"/>
            <a:ext cx="414211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Newsletters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809625" y="5391150"/>
            <a:ext cx="3944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Subscribed digest updates and tech bulletins.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4594175" y="490537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PRIORITY 1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4517975" y="5153025"/>
            <a:ext cx="414211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Promotions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4517975" y="5391150"/>
            <a:ext cx="3944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Marketing material and commercial offers.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8302525" y="490537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91C1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PRIORITY 1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8226325" y="5153025"/>
            <a:ext cx="396567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Spam / Phishing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8226325" y="5391150"/>
            <a:ext cx="39450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Suspicious links and unverified external senders.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/>
          <p:nvPr/>
        </p:nvSpPr>
        <p:spPr>
          <a:xfrm>
            <a:off x="609600" y="3114675"/>
            <a:ext cx="3505200" cy="1676400"/>
          </a:xfrm>
          <a:prstGeom prst="roundRect">
            <a:avLst>
              <a:gd fmla="val 6818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4343400" y="3114675"/>
            <a:ext cx="3505200" cy="1676400"/>
          </a:xfrm>
          <a:prstGeom prst="roundRect">
            <a:avLst>
              <a:gd fmla="val 6818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8077200" y="3114675"/>
            <a:ext cx="3505200" cy="1676400"/>
          </a:xfrm>
          <a:prstGeom prst="roundRect">
            <a:avLst>
              <a:gd fmla="val 6818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0" name="Google Shape;2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33909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3425" y="33909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7225" y="33909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 txBox="1"/>
          <p:nvPr/>
        </p:nvSpPr>
        <p:spPr>
          <a:xfrm>
            <a:off x="609600" y="5334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06 / HUMAN-IN-THE-LOOP MECHANISM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609600" y="8477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Three Approval Decisions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809625" y="3657600"/>
            <a:ext cx="407550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Approve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809625" y="3971925"/>
            <a:ext cx="3200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Resumes execution with exact generated tool arguments. Dispatches email or creates draft immediately.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4543425" y="3657600"/>
            <a:ext cx="407550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Edit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4543425" y="3971925"/>
            <a:ext cx="3200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Allows human operator to modify recipient, subject, or body parameters prior to execution.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8277225" y="3657600"/>
            <a:ext cx="39147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Reject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8277225" y="3971925"/>
            <a:ext cx="3200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Aborts tool call instantly. Injects rejection feedback back into LLM memory context safely.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/>
          <p:nvPr/>
        </p:nvSpPr>
        <p:spPr>
          <a:xfrm>
            <a:off x="6257925" y="2890837"/>
            <a:ext cx="5324475" cy="819150"/>
          </a:xfrm>
          <a:prstGeom prst="roundRect">
            <a:avLst>
              <a:gd fmla="val 1395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6257925" y="3862387"/>
            <a:ext cx="5324475" cy="819150"/>
          </a:xfrm>
          <a:prstGeom prst="roundRect">
            <a:avLst>
              <a:gd fmla="val 1395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6257925" y="4833937"/>
            <a:ext cx="5324475" cy="819150"/>
          </a:xfrm>
          <a:prstGeom prst="roundRect">
            <a:avLst>
              <a:gd fmla="val 1395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8" name="Google Shape;2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581150"/>
            <a:ext cx="5343525" cy="538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1590675"/>
            <a:ext cx="5324475" cy="536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7950" y="3119437"/>
            <a:ext cx="1809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7950" y="4090987"/>
            <a:ext cx="1809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7950" y="5062537"/>
            <a:ext cx="1809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 txBox="1"/>
          <p:nvPr/>
        </p:nvSpPr>
        <p:spPr>
          <a:xfrm>
            <a:off x="609600" y="5334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07 / USER INTERFACES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09600" y="8477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Multi-Interface Deployment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6457950" y="3090862"/>
            <a:ext cx="5734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Web Dashboard (app.py)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6457950" y="3338512"/>
            <a:ext cx="5734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Glassmorphic UI with modal dialogs for real-time HITL decisions.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6457950" y="4062412"/>
            <a:ext cx="5734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Terminal CLI (main.py)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6457950" y="4310062"/>
            <a:ext cx="5734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terminal co-pilot with automated test flags (--demo).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6457950" y="5033962"/>
            <a:ext cx="5734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Notebook Walkthrough (main.ipynb)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6457950" y="5281612"/>
            <a:ext cx="5734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cell-by-cell demonstration environment for evaluation.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"/>
          <p:cNvSpPr/>
          <p:nvPr/>
        </p:nvSpPr>
        <p:spPr>
          <a:xfrm>
            <a:off x="609600" y="4829175"/>
            <a:ext cx="10972800" cy="495300"/>
          </a:xfrm>
          <a:prstGeom prst="roundRect">
            <a:avLst>
              <a:gd fmla="val 19230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5509468" y="3095625"/>
            <a:ext cx="1057275" cy="190500"/>
          </a:xfrm>
          <a:prstGeom prst="roundRect">
            <a:avLst>
              <a:gd fmla="val 20000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5509468" y="3514725"/>
            <a:ext cx="1200150" cy="190500"/>
          </a:xfrm>
          <a:prstGeom prst="roundRect">
            <a:avLst>
              <a:gd fmla="val 2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5509468" y="3933825"/>
            <a:ext cx="1057275" cy="190500"/>
          </a:xfrm>
          <a:prstGeom prst="roundRect">
            <a:avLst>
              <a:gd fmla="val 20000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5509468" y="4352925"/>
            <a:ext cx="885825" cy="190500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0" name="Google Shape;2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4981575"/>
            <a:ext cx="190500" cy="190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1" name="Google Shape;271;p21"/>
          <p:cNvGraphicFramePr/>
          <p:nvPr/>
        </p:nvGraphicFramePr>
        <p:xfrm>
          <a:off x="609600" y="2543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{045C279C-5EC6-4DFF-9B19-3D6B846B057F}</a:tableStyleId>
              </a:tblPr>
              <a:tblGrid>
                <a:gridCol w="4785575"/>
                <a:gridCol w="2854225"/>
                <a:gridCol w="1486950"/>
                <a:gridCol w="184607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Sender / Subject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Assigned 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Urgency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Action Flag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Dr. Sharma / Capstone Submission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 / 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Google Recruiting / Interview Invite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 / 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AWS Cloud / Billing Breach Alert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 / 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TLDR AI / Daily Tech Bulletin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 / 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FALSE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2" name="Google Shape;272;p21"/>
          <p:cNvSpPr txBox="1"/>
          <p:nvPr/>
        </p:nvSpPr>
        <p:spPr>
          <a:xfrm>
            <a:off x="609600" y="5334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08 / EXPERIMENTAL RESULTS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609600" y="8477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Sandbox Triage Classification Metrics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1104900" y="4986337"/>
            <a:ext cx="8286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 classification precision across test benchmark. Zero false negatives on urgent messages.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5585668" y="3114675"/>
            <a:ext cx="1000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Urgent / Action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5585668" y="3533775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 / Academic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5585668" y="3952875"/>
            <a:ext cx="1000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Urgent / Action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5585668" y="4371975"/>
            <a:ext cx="828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Newsletters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/>
          <p:nvPr/>
        </p:nvSpPr>
        <p:spPr>
          <a:xfrm>
            <a:off x="609600" y="1581150"/>
            <a:ext cx="3505200" cy="4743450"/>
          </a:xfrm>
          <a:prstGeom prst="roundRect">
            <a:avLst>
              <a:gd fmla="val 32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4343400" y="1581150"/>
            <a:ext cx="3505200" cy="4743450"/>
          </a:xfrm>
          <a:prstGeom prst="roundRect">
            <a:avLst>
              <a:gd fmla="val 32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8077200" y="1581150"/>
            <a:ext cx="3505200" cy="4743450"/>
          </a:xfrm>
          <a:prstGeom prst="roundRect">
            <a:avLst>
              <a:gd fmla="val 32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847725" y="2800350"/>
            <a:ext cx="3028950" cy="400050"/>
          </a:xfrm>
          <a:prstGeom prst="roundRect">
            <a:avLst>
              <a:gd fmla="val 19047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4581525" y="2800350"/>
            <a:ext cx="3028950" cy="400050"/>
          </a:xfrm>
          <a:prstGeom prst="roundRect">
            <a:avLst>
              <a:gd fmla="val 19047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8315325" y="2800350"/>
            <a:ext cx="3028950" cy="400050"/>
          </a:xfrm>
          <a:prstGeom prst="roundRect">
            <a:avLst>
              <a:gd fmla="val 19047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609600" y="5334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09 / DECISION VERIFICATION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609600" y="8477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HITL Verification Test Suite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838200" y="1847850"/>
            <a:ext cx="3143250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CASE 02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4572000" y="1847850"/>
            <a:ext cx="3143250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CASE 03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8305800" y="1847850"/>
            <a:ext cx="3143250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CASE 04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847725" y="2133600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Approval Verification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847725" y="2466975"/>
            <a:ext cx="37861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Approved reply tool call.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4581525" y="2133600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Edit Mutability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4581525" y="2466975"/>
            <a:ext cx="37861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Modified subject and body.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8315325" y="2133600"/>
            <a:ext cx="387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Rejection Gating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8315325" y="2466975"/>
            <a:ext cx="37861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Aborted with reason note.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962025" y="2914650"/>
            <a:ext cx="35004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Result: Dispatched &amp; logged cleanly.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4695825" y="2914650"/>
            <a:ext cx="35004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Result: Executed with edited params.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8429625" y="2914650"/>
            <a:ext cx="35004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Result: 0 messages sent; LLM notified.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" name="Google Shape;307;p23"/>
          <p:cNvGraphicFramePr/>
          <p:nvPr/>
        </p:nvGraphicFramePr>
        <p:xfrm>
          <a:off x="609600" y="279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{045C279C-5EC6-4DFF-9B19-3D6B846B057F}</a:tableStyleId>
              </a:tblPr>
              <a:tblGrid>
                <a:gridCol w="2757350"/>
                <a:gridCol w="2202950"/>
                <a:gridCol w="2515650"/>
                <a:gridCol w="34968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Feature / Dimension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Traditional Filters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Static LLM Prompts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Our Agentic HITL Agent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Context Awareness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Low (Rule-based)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Medium (Single-turn)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 (Multi-turn state)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Environmental Agency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Autonomous Tool Calling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Safety Gating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N/A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Unsafe (No gates)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Deterministic LangGraph HITL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Parameter Mutability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Full Pre-execution Edit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8" name="Google Shape;308;p23"/>
          <p:cNvSpPr txBox="1"/>
          <p:nvPr/>
        </p:nvSpPr>
        <p:spPr>
          <a:xfrm>
            <a:off x="609600" y="5334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10 / COMPARATIVE ANALYSIS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609600" y="847725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 Comparison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"/>
          <p:cNvSpPr/>
          <p:nvPr/>
        </p:nvSpPr>
        <p:spPr>
          <a:xfrm>
            <a:off x="609600" y="55340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609600" y="553402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4"/>
          <p:cNvSpPr/>
          <p:nvPr/>
        </p:nvSpPr>
        <p:spPr>
          <a:xfrm>
            <a:off x="609600" y="1676400"/>
            <a:ext cx="5334000" cy="1581150"/>
          </a:xfrm>
          <a:prstGeom prst="roundRect">
            <a:avLst>
              <a:gd fmla="val 722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6248400" y="1676400"/>
            <a:ext cx="5334000" cy="1581150"/>
          </a:xfrm>
          <a:prstGeom prst="roundRect">
            <a:avLst>
              <a:gd fmla="val 722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4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Space Mono"/>
                <a:ea typeface="Space Mono"/>
                <a:cs typeface="Space Mono"/>
                <a:sym typeface="Space Mono"/>
              </a:rPr>
              <a:t>11 / CONCLUSION &amp; FUTURE SCOPE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609600" y="923925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Summary &amp; Next Steps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9096375" y="5910262"/>
            <a:ext cx="25812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Space Mono"/>
                <a:ea typeface="Space Mono"/>
                <a:cs typeface="Space Mono"/>
                <a:sym typeface="Space Mono"/>
              </a:rPr>
              <a:t>Aditya Khiratkar | SIT Nagpur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609600" y="5772150"/>
            <a:ext cx="263128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You!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609600" y="6076950"/>
            <a:ext cx="26312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 &amp; Academic Discussion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876300" y="1943100"/>
            <a:ext cx="63007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876300" y="2295525"/>
            <a:ext cx="4895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Successfully engineered a balance between agentic AI productivity and security. Safe read operations run autonomously while high-risk writes remain under strict human authority.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6515100" y="1943100"/>
            <a:ext cx="5676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Scope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6515100" y="2295525"/>
            <a:ext cx="5676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Multi-Modal vision inspection for PDF rubrics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6515100" y="2552700"/>
            <a:ext cx="5676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Google Calendar API synthesis for scheduling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6515100" y="2809875"/>
            <a:ext cx="5676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Local Vector RAG (ChromaDB) for context lookup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0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5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1666875" y="1038225"/>
            <a:ext cx="99298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https://media.easy-peasy.ai/c9fe22de-a73d-4f81-a678-b8650e0c6593/659a55bf-23ff-4353-a475-2878c2a7a1cb_medium.webp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1666875" y="1238250"/>
            <a:ext cx="20240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easy-peasy.ai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